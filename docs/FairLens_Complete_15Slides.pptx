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47472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347472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47472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347472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926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Solution Challenge 2026  ·  Build with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FairLens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Bias Detection &amp; Fairness Auditing Platform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AI fairness accessible to everyone — not just data scientists.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901952" cy="1078992"/>
          </a:xfrm>
          <a:prstGeom prst="rect">
            <a:avLst/>
          </a:prstGeom>
          <a:solidFill>
            <a:srgbClr val="F8F9FA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090672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35844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Metrics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3063240"/>
            <a:ext cx="1901952" cy="1078992"/>
          </a:xfrm>
          <a:prstGeom prst="rect">
            <a:avLst/>
          </a:prstGeom>
          <a:solidFill>
            <a:srgbClr val="F8F9FA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3090672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60320" y="35844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to Audit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1901952" cy="1078992"/>
          </a:xfrm>
          <a:prstGeom prst="rect">
            <a:avLst/>
          </a:prstGeom>
          <a:solidFill>
            <a:srgbClr val="F8F9FA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3090672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63440" y="35844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 Needed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3063240"/>
            <a:ext cx="1901952" cy="1078992"/>
          </a:xfrm>
          <a:prstGeom prst="rect">
            <a:avLst/>
          </a:prstGeom>
          <a:solidFill>
            <a:srgbClr val="F8F9FA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3090672"/>
            <a:ext cx="1901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66560" y="35844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Datasets Ready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Model Misfits  ·  Leader: Viraj Jadhao  ·  Track: Unbiased AI Decision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Solution Challenge 2026 — Submission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98448"/>
            <a:ext cx="5029200" cy="3383280"/>
          </a:xfrm>
          <a:prstGeom prst="rect">
            <a:avLst/>
          </a:prstGeom>
          <a:solidFill>
            <a:srgbClr val="F8F9FA"/>
          </a:solidFill>
          <a:ln w="762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98448"/>
            <a:ext cx="5029200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350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Information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7922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1792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Misfits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2677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267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Viraj Jadhao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Unbiased AI Decision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2186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32186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FastAPI · Gemini · Google Cloud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941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Duration: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36941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 Minutes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69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41696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Members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1298448"/>
            <a:ext cx="3017520" cy="3383280"/>
          </a:xfrm>
          <a:prstGeom prst="rect">
            <a:avLst/>
          </a:prstGeom>
          <a:solidFill>
            <a:srgbClr val="E8F0FE"/>
          </a:solidFill>
          <a:ln w="762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1298448"/>
            <a:ext cx="3017520" cy="347472"/>
          </a:xfrm>
          <a:prstGeom prst="rect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335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1737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FairLens: A Cloud-Native Bias Auditing Platform for Automated Fairness Assessment and Remediation of Machine Learning Systems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0" y="3474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Track: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Unbiased AI Decision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FairLens Solves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make life-altering decisions — yet virtually none are audited for fairness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6187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decide who gets a job interview, a loan, or medical care. Biased models don't just repeat historical mistakes — they amplify them at scale.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810512"/>
            <a:ext cx="2633472" cy="2084832"/>
          </a:xfrm>
          <a:prstGeom prst="rect">
            <a:avLst/>
          </a:prstGeom>
          <a:solidFill>
            <a:srgbClr val="FFFFFF"/>
          </a:solidFill>
          <a:ln w="762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810512"/>
            <a:ext cx="2633472" cy="29260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470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Inaccessibility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21579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(AI Fairness 360,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" y="246888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Fairlearn) require PhD-level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" y="277977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— compliance officers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1208" y="30906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HR managers cannot use them.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1810512"/>
            <a:ext cx="2633472" cy="2084832"/>
          </a:xfrm>
          <a:prstGeom prst="rect">
            <a:avLst/>
          </a:prstGeom>
          <a:solidFill>
            <a:srgbClr val="FFFFFF"/>
          </a:solidFill>
          <a:ln w="7620">
            <a:solidFill>
              <a:srgbClr val="FBBC0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1810512"/>
            <a:ext cx="2633472" cy="292608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8470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Gap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1579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are statistical tables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46888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context, stories, 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277977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paths that non-technical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0906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can act upon.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44184" y="1810512"/>
            <a:ext cx="2633472" cy="2084832"/>
          </a:xfrm>
          <a:prstGeom prst="rect">
            <a:avLst/>
          </a:prstGeom>
          <a:solidFill>
            <a:srgbClr val="FFFFFF"/>
          </a:solidFill>
          <a:ln w="762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44184" y="1810512"/>
            <a:ext cx="2633472" cy="2926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18470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Remediation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53912" y="21579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tools stop at identifying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53912" y="246888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bias. FairLens provides counterfactual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53912" y="277977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proofs and one-click debiased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53912" y="30906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ready to deploy.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005072"/>
            <a:ext cx="8321040" cy="804672"/>
          </a:xfrm>
          <a:prstGeom prst="rect">
            <a:avLst/>
          </a:prstGeom>
          <a:solidFill>
            <a:srgbClr val="E6F4EA"/>
          </a:solidFill>
          <a:ln w="7620">
            <a:solidFill>
              <a:srgbClr val="34A8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005072"/>
            <a:ext cx="164592" cy="80467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059936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Insight:  </a:t>
            </a:r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is not technical sophistication — it is accessibility. FairLens is built for a compliance officer on a Monday morning, not a data scientist.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FairLens Different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concrete differentiators from every existing bias auditing tool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234440"/>
            <a:ext cx="4160520" cy="1755648"/>
          </a:xfrm>
          <a:prstGeom prst="rect">
            <a:avLst/>
          </a:prstGeom>
          <a:solidFill>
            <a:srgbClr val="FFFFFF"/>
          </a:solidFill>
          <a:ln w="762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34440"/>
            <a:ext cx="4160520" cy="29260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7101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Engine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1581912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statistic — a story. "Priya has 10 years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" y="189280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experience. If her gender changed to male,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" y="220370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probability jumps from 31% to 74%."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" y="251460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DiCE-ML + Gemini.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82312" y="1234440"/>
            <a:ext cx="4160520" cy="1755648"/>
          </a:xfrm>
          <a:prstGeom prst="rect">
            <a:avLst/>
          </a:prstGeom>
          <a:solidFill>
            <a:srgbClr val="FFFFFF"/>
          </a:solidFill>
          <a:ln w="762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82312" y="1234440"/>
            <a:ext cx="4160520" cy="2926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27101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Intersectional Bias Detection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581912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tools check one attribute at a time.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189280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FairLens runs the full metric suite across every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20370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and triple combination — surfacing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51460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compounded discrimination invisible to others.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136392"/>
            <a:ext cx="4160520" cy="1755648"/>
          </a:xfrm>
          <a:prstGeom prst="rect">
            <a:avLst/>
          </a:prstGeom>
          <a:solidFill>
            <a:srgbClr val="FFFFFF"/>
          </a:solidFill>
          <a:ln w="762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136392"/>
            <a:ext cx="4160520" cy="2926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729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Debiasing Simulator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" y="348386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slider navigates the fairness-accuracy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1208" y="379476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 curve. Organizations choose where to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" y="410565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operate, then download a corrected, ready-to-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1208" y="4416552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model implementing their decision.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82312" y="3136392"/>
            <a:ext cx="4160520" cy="1755648"/>
          </a:xfrm>
          <a:prstGeom prst="rect">
            <a:avLst/>
          </a:prstGeom>
          <a:solidFill>
            <a:srgbClr val="FFFFFF"/>
          </a:solidFill>
          <a:ln w="762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82312" y="3136392"/>
            <a:ext cx="4160520" cy="2926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1729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Plain-English Explanations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48386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includes a headline, concrete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379476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example, and consequence statement — at 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410565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level for non-technical officers.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4416552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support included. Unique globally.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Capabilities, Zero Complexity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Google Cloud · Powered by Gemini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34440"/>
            <a:ext cx="42245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34440"/>
            <a:ext cx="164592" cy="65836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289304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Drag-and-drop upload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" y="15636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Excel, or scikit-learn pickle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27448" y="1234440"/>
            <a:ext cx="42245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27448" y="1234440"/>
            <a:ext cx="164592" cy="658368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289304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Gemini protected attribute detection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56362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Auto-identifies gender, age, caste, religion, disability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984248"/>
            <a:ext cx="42245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984248"/>
            <a:ext cx="164592" cy="65836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03911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12 fairness metrics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" y="2313432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fairness, error fairness, calibration, distributional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27448" y="1984248"/>
            <a:ext cx="42245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27448" y="1984248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03911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Intersectional bias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2313432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&amp; triple combos visualized as heatmap matrix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734056"/>
            <a:ext cx="42245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734056"/>
            <a:ext cx="164592" cy="65836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2788920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Counterfactual Engine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" y="306324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DiCE-ML + Gemini — shows bias as human stories, not stats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27448" y="2734056"/>
            <a:ext cx="42245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27448" y="2734056"/>
            <a:ext cx="164592" cy="65836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788920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Live Debiasing Simulator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306324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Fairlearn-powered fairness-accuracy tradeoff with slider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483864"/>
            <a:ext cx="42245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483864"/>
            <a:ext cx="164592" cy="658368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353872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Downloadable corrected model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" y="3813048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Ready-to-deploy debiased model artifact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27448" y="3483864"/>
            <a:ext cx="42245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27448" y="3483864"/>
            <a:ext cx="164592" cy="65836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53872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PDF Audit Report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813048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Formatted for EU AI Act, DPDP Act, SEBI/RBI submission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233672"/>
            <a:ext cx="42245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233672"/>
            <a:ext cx="164592" cy="65836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428853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Hindi language support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" y="456285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explanations in Hindi for Indian compliance officers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27448" y="4233672"/>
            <a:ext cx="422452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27448" y="4233672"/>
            <a:ext cx="164592" cy="65836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4288536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Real-time dashboard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83480" y="456285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Firebase-powered live updates during audit pipeline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Stages: Upload to Audit Report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bias audit in FairLens flows through seven sequential, modular stages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34440"/>
            <a:ext cx="2724912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2724912" cy="274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7101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56362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Schema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05740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profiling; Gemini detects protected attributes from column names and sample values.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82112" y="1234440"/>
            <a:ext cx="2724912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234440"/>
            <a:ext cx="2724912" cy="2743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27101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73552" y="156362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Fairness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Computation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73552" y="205740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fairness metrics computed per protected attribute using Fairlearn's MetricFrame.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9904" y="1234440"/>
            <a:ext cx="2724912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234440"/>
            <a:ext cx="2724912" cy="2743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127101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81344" y="1563624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81344" y="205740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metric suite run across every pairwise and triple combination of protected attributes.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807208"/>
            <a:ext cx="2724912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FBBC0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07208"/>
            <a:ext cx="2724912" cy="274320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8437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1363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63016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DiCE-ML generates diverse counterfactuals — minimum feature changes that flip decisions.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82112" y="2807208"/>
            <a:ext cx="2724912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2807208"/>
            <a:ext cx="2724912" cy="274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28437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73552" y="31363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Explanation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73552" y="363016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narratives with headlines, examples, and consequence statements — inc. Hindi.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89904" y="2807208"/>
            <a:ext cx="2724912" cy="1444752"/>
          </a:xfrm>
          <a:prstGeom prst="rect">
            <a:avLst/>
          </a:prstGeom>
          <a:solidFill>
            <a:srgbClr val="FFFFFF"/>
          </a:solidFill>
          <a:ln w="762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9904" y="2807208"/>
            <a:ext cx="2724912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28437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81344" y="31363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Debiasing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Model Correction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81344" y="363016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Fairlearn algorithms generate a fairness-accuracy curve; users select their operating point.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407408"/>
            <a:ext cx="8595360" cy="548640"/>
          </a:xfrm>
          <a:prstGeom prst="rect">
            <a:avLst/>
          </a:prstGeom>
          <a:solidFill>
            <a:srgbClr val="E8F0FE"/>
          </a:solidFill>
          <a:ln w="7620">
            <a:solidFill>
              <a:srgbClr val="4285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07408"/>
            <a:ext cx="164592" cy="5486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44398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 — Report Assembly &amp; Delivery:  </a:t>
            </a:r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report written to Firestore; PDF generated via ReportLab for regulatory submission (EU AI Act, DPDP Act, SEBI/RBI).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Wireframes — FairLens User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core screens that take users from upload to actionable insight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34440"/>
            <a:ext cx="416052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4160520" cy="29260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280160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Upload &amp; Column Detector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208" y="1563624"/>
            <a:ext cx="3474720" cy="658368"/>
          </a:xfrm>
          <a:prstGeom prst="rect">
            <a:avLst/>
          </a:prstGeom>
          <a:solidFill>
            <a:srgbClr val="EAF2FF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1655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 Drag &amp; Drop CSV / Excel / Pickle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19293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click to browse files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1208" y="2295144"/>
            <a:ext cx="1536192" cy="420624"/>
          </a:xfrm>
          <a:prstGeom prst="rect">
            <a:avLst/>
          </a:prstGeom>
          <a:solidFill>
            <a:srgbClr val="E8F0FE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3500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Gender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(Protected)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167128" y="2295144"/>
            <a:ext cx="1536192" cy="420624"/>
          </a:xfrm>
          <a:prstGeom prst="rect">
            <a:avLst/>
          </a:prstGeom>
          <a:solidFill>
            <a:srgbClr val="FFF3CD"/>
          </a:solidFill>
          <a:ln w="6350">
            <a:solidFill>
              <a:srgbClr val="FBBC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2848" y="23500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Age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(Protected)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21208" y="2788920"/>
            <a:ext cx="3474720" cy="274320"/>
          </a:xfrm>
          <a:prstGeom prst="rect">
            <a:avLst/>
          </a:prstGeom>
          <a:solidFill>
            <a:srgbClr val="4285F4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807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Bias Audit →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234440"/>
            <a:ext cx="416052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234440"/>
            <a:ext cx="4160520" cy="29260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65192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9784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76088" y="1280160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Bias Score Dashboard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56048" y="1563624"/>
            <a:ext cx="1078992" cy="548640"/>
          </a:xfrm>
          <a:prstGeom prst="rect">
            <a:avLst/>
          </a:prstGeom>
          <a:solidFill>
            <a:srgbClr val="FDECEA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60020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CRITICAL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983480" y="1801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Demog. Parity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117336" y="1563624"/>
            <a:ext cx="1078992" cy="548640"/>
          </a:xfrm>
          <a:prstGeom prst="rect">
            <a:avLst/>
          </a:prstGeom>
          <a:solidFill>
            <a:srgbClr val="FFF8E1"/>
          </a:solidFill>
          <a:ln w="6350">
            <a:solidFill>
              <a:srgbClr val="FBBC0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160020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WARNING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144768" y="1801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Odds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278624" y="1563624"/>
            <a:ext cx="1078992" cy="54864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06056" y="160020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306056" y="1801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983480" y="220370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bias detected: Female candidates are shortlisted at a 43% lower rate than male candidates with equivalent profiles.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956048" y="2788920"/>
            <a:ext cx="3474720" cy="274320"/>
          </a:xfrm>
          <a:prstGeom prst="rect">
            <a:avLst/>
          </a:prstGeom>
          <a:solidFill>
            <a:srgbClr val="EA4335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2807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Counterfactuals →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136392"/>
            <a:ext cx="416052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136392"/>
            <a:ext cx="4160520" cy="2926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0352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4944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" y="318211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Counterfactual Explorer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1208" y="3465576"/>
            <a:ext cx="1664208" cy="1188720"/>
          </a:xfrm>
          <a:prstGeom prst="rect">
            <a:avLst/>
          </a:prstGeom>
          <a:solidFill>
            <a:srgbClr val="FDECEA"/>
          </a:solidFill>
          <a:ln w="6350">
            <a:solidFill>
              <a:srgbClr val="EA43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35204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(Actual)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66928" y="3739896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Exp: 10 yrs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82/100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✗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Prob: 31%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267712" y="3904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2487168" y="3465576"/>
            <a:ext cx="1481328" cy="1188720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32888" y="352044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MALE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532888" y="3739896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Exp: 10 yrs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82/100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 ✓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Prob: 74%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48640" y="47274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gender changed. Everything else identical.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09160" y="3136392"/>
            <a:ext cx="4160520" cy="1783080"/>
          </a:xfrm>
          <a:prstGeom prst="rect">
            <a:avLst/>
          </a:prstGeom>
          <a:solidFill>
            <a:srgbClr val="FFFFFF"/>
          </a:solidFill>
          <a:ln w="7620">
            <a:solidFill>
              <a:srgbClr val="FBBC0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09160" y="3136392"/>
            <a:ext cx="4160520" cy="292608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00600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65192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29784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76088" y="318211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Debiasing Simulator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983480" y="35021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Constraint Strength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83480" y="3758184"/>
            <a:ext cx="3383280" cy="164592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83480" y="3758184"/>
            <a:ext cx="2194560" cy="164592"/>
          </a:xfrm>
          <a:prstGeom prst="rect">
            <a:avLst/>
          </a:prstGeom>
          <a:solidFill>
            <a:srgbClr val="4285F4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04888" y="3703320"/>
            <a:ext cx="201168" cy="274320"/>
          </a:xfrm>
          <a:prstGeom prst="ellipse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83480" y="3977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165592" y="39776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983480" y="4215384"/>
            <a:ext cx="1600200" cy="438912"/>
          </a:xfrm>
          <a:prstGeom prst="rect">
            <a:avLst/>
          </a:prstGeom>
          <a:solidFill>
            <a:srgbClr val="E6F4EA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0056" y="425196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 → 89%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757416" y="4215384"/>
            <a:ext cx="1600200" cy="438912"/>
          </a:xfrm>
          <a:prstGeom prst="rect">
            <a:avLst/>
          </a:prstGeom>
          <a:solidFill>
            <a:srgbClr val="FFF8E1"/>
          </a:solidFill>
          <a:ln w="6350">
            <a:solidFill>
              <a:srgbClr val="FBBC0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93992" y="425196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−6%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983480" y="4727448"/>
            <a:ext cx="3383280" cy="256032"/>
          </a:xfrm>
          <a:prstGeom prst="rect">
            <a:avLst/>
          </a:prstGeom>
          <a:solidFill>
            <a:srgbClr val="34A853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83480" y="47457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  Download Debiased Model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screens: Next.js 14 + TailwindCSS + ShadCN UI + Recharts · Firebase real-time sync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Five-Layer Cloud-Native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Google Cloud · Microservices-adjacent · Real-time Firebase sync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234440"/>
            <a:ext cx="1591056" cy="1417320"/>
          </a:xfrm>
          <a:prstGeom prst="rect">
            <a:avLst/>
          </a:prstGeom>
          <a:solidFill>
            <a:srgbClr val="F8F9FA"/>
          </a:solidFill>
          <a:ln w="762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234440"/>
            <a:ext cx="1591056" cy="274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7101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8600" y="156362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1752" y="1947672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CDN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19656" y="1892808"/>
            <a:ext cx="164592" cy="54864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7647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84248" y="1234440"/>
            <a:ext cx="1591056" cy="1417320"/>
          </a:xfrm>
          <a:prstGeom prst="rect">
            <a:avLst/>
          </a:prstGeom>
          <a:solidFill>
            <a:srgbClr val="F8F9FA"/>
          </a:solidFill>
          <a:ln w="762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84248" y="1234440"/>
            <a:ext cx="1591056" cy="2743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127101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984248" y="156362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57400" y="1947672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75304" y="1892808"/>
            <a:ext cx="164592" cy="54864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17647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39896" y="1234440"/>
            <a:ext cx="1591056" cy="1417320"/>
          </a:xfrm>
          <a:prstGeom prst="rect">
            <a:avLst/>
          </a:prstGeom>
          <a:solidFill>
            <a:srgbClr val="F8F9FA"/>
          </a:solidFill>
          <a:ln w="762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39896" y="1234440"/>
            <a:ext cx="1591056" cy="274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9896" y="127101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39896" y="156362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13048" y="1947672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· Fairlearn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DiCE-ML · AIF360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30952" y="1892808"/>
            <a:ext cx="164592" cy="54864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0096" y="17647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95544" y="1234440"/>
            <a:ext cx="1591056" cy="1417320"/>
          </a:xfrm>
          <a:prstGeom prst="rect">
            <a:avLst/>
          </a:prstGeom>
          <a:solidFill>
            <a:srgbClr val="F8F9FA"/>
          </a:solidFill>
          <a:ln w="7620">
            <a:solidFill>
              <a:srgbClr val="FBBC0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95544" y="1234440"/>
            <a:ext cx="1591056" cy="274320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95544" y="127101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95544" y="156362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68696" y="1947672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Fairlearn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AutoML Tables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86600" y="1892808"/>
            <a:ext cx="164592" cy="54864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95744" y="17647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51192" y="1234440"/>
            <a:ext cx="1591056" cy="1417320"/>
          </a:xfrm>
          <a:prstGeom prst="rect">
            <a:avLst/>
          </a:prstGeom>
          <a:solidFill>
            <a:srgbClr val="F8F9FA"/>
          </a:solidFill>
          <a:ln w="7620">
            <a:solidFill>
              <a:srgbClr val="5F636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51192" y="1234440"/>
            <a:ext cx="1591056" cy="274320"/>
          </a:xfrm>
          <a:prstGeom prst="rect">
            <a:avLst/>
          </a:prstGeom>
          <a:solidFill>
            <a:srgbClr val="5F6368"/>
          </a:solidFill>
          <a:ln w="12700">
            <a:solidFill>
              <a:srgbClr val="5F63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1271016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251192" y="156362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324344" y="1947672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737360" y="2834640"/>
            <a:ext cx="5669280" cy="658368"/>
          </a:xfrm>
          <a:prstGeom prst="rect">
            <a:avLst/>
          </a:prstGeom>
          <a:solidFill>
            <a:srgbClr val="FFF8E1"/>
          </a:solidFill>
          <a:ln w="7620">
            <a:solidFill>
              <a:srgbClr val="FBBC0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0" y="2834640"/>
            <a:ext cx="137160" cy="658368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38528" y="2871216"/>
            <a:ext cx="5376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Async Queue: Celery + Redis — API returns instantly; Celery workers run 60s+ audit jobs in background; Firebase Firestore real-time listener pushes live results to the dashboard automatically.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" y="3657600"/>
            <a:ext cx="1591056" cy="347472"/>
          </a:xfrm>
          <a:prstGeom prst="rect">
            <a:avLst/>
          </a:prstGeom>
          <a:solidFill>
            <a:srgbClr val="E8F0FE"/>
          </a:solidFill>
          <a:ln w="7620">
            <a:solidFill>
              <a:srgbClr val="4285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368503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Run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984248" y="3657600"/>
            <a:ext cx="1591056" cy="347472"/>
          </a:xfrm>
          <a:prstGeom prst="rect">
            <a:avLst/>
          </a:prstGeom>
          <a:solidFill>
            <a:srgbClr val="E8F0FE"/>
          </a:solidFill>
          <a:ln w="7620">
            <a:solidFill>
              <a:srgbClr val="4285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84248" y="368503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Firestore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739896" y="3657600"/>
            <a:ext cx="1591056" cy="347472"/>
          </a:xfrm>
          <a:prstGeom prst="rect">
            <a:avLst/>
          </a:prstGeom>
          <a:solidFill>
            <a:srgbClr val="E8F0FE"/>
          </a:solidFill>
          <a:ln w="7620">
            <a:solidFill>
              <a:srgbClr val="4285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39896" y="368503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95544" y="3657600"/>
            <a:ext cx="1591056" cy="347472"/>
          </a:xfrm>
          <a:prstGeom prst="rect">
            <a:avLst/>
          </a:prstGeom>
          <a:solidFill>
            <a:srgbClr val="E8F0FE"/>
          </a:solidFill>
          <a:ln w="7620">
            <a:solidFill>
              <a:srgbClr val="4285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95544" y="368503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1.5 Pro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251192" y="3657600"/>
            <a:ext cx="1591056" cy="347472"/>
          </a:xfrm>
          <a:prstGeom prst="rect">
            <a:avLst/>
          </a:prstGeom>
          <a:solidFill>
            <a:srgbClr val="E8F0FE"/>
          </a:solidFill>
          <a:ln w="7620">
            <a:solidFill>
              <a:srgbClr val="4285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51192" y="368503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AutoML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28600" y="41330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Data Ingestion → Fairness Metrics → Intersectional Analysis → Counterfactuals → Gemini Explanations → Debiasing → Report Assembly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Firebase ID Tokens validated on every request · All data encrypted at rest and in transit · Dataset files auto-deleted after 72 hours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Google Cloud · Zero-compromise engineering choices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34440"/>
            <a:ext cx="4160520" cy="17373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182880" cy="17373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258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70992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(App Router + SSR)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002536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TailwindCSS + ShadCN UI components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295144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(heatmaps, tradeoff curves)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587752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JS SDK (real-time updates)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4160520" cy="17373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234440"/>
            <a:ext cx="182880" cy="17373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3258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70992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 3.11, async-first)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83480" y="2002536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+ Redis (async job queue)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2295144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Docker Compose (containers)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83480" y="2587752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 pipeline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136392"/>
            <a:ext cx="4160520" cy="17373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136392"/>
            <a:ext cx="182880" cy="17373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278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61188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1.5 Pro (detection + explanations)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90448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Fairlearn 0.10 (12 metrics + debiasing)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197096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DiCE-ML (counterfactual generation)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489704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Fairness 360 (supplementary metrics)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136392"/>
            <a:ext cx="4160520" cy="17373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136392"/>
            <a:ext cx="182880" cy="1737360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22783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361188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(auto-scaling backend)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3904488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Firestore (real-time DB)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4197096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 (files, PDFs, models)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83480" y="4489704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+ AutoML Tables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E8F0FE"/>
          </a:solidFill>
          <a:ln w="7620">
            <a:solidFill>
              <a:srgbClr val="4285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7731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Google Cloud service chosen for a specific reason — Cloud Run scales to zero (cost-efficient) · Firestore enables real-time UX · Gemini eliminates PhD-level interpretation.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Implementation Cost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Pay-as-you-go with Google Cloud — from prototype to enterprise scale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595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Cost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Cloud Run (backend)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4A8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~$10 – $30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Auto-scales to zero when idle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1.5 Pro API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4A8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~$20 – $50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audit; response caching reduces repeat calls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Firebase Firestore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4A8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~$5 – $15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DB; generous free tier for small usage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Cloud Storage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4A8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~$3 – $8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files auto-deleted after 72 hours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on Cloud Memorystore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4A8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~$5 – $10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Celery job broker; scales with load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 (frontend)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4A8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– $20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tier covers most student/prototype usage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ESTIMATED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BBC0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 – $133/mo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AAA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Prototype / early production scale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124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4315968"/>
            <a:ext cx="269748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" y="433425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34440" y="438912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credits via Google for Developers (student)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154680" y="4315968"/>
            <a:ext cx="269748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46120" y="433425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114800" y="438912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free trial credits for new accounts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35040" y="4315968"/>
            <a:ext cx="269748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FBBC0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26480" y="433425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995160" y="438912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hosting for open-source / student projects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MVP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— drag-and-drop to debiased model in under 60 seconds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34440"/>
            <a:ext cx="4160520" cy="1755648"/>
          </a:xfrm>
          <a:prstGeom prst="rect">
            <a:avLst/>
          </a:prstGeom>
          <a:solidFill>
            <a:srgbClr val="F8F9FA"/>
          </a:solidFill>
          <a:ln w="762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4160520" cy="2743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1280160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Score Dashboard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Demographic Parity Diff: 0.43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1929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 Equalized Odds Diff: 0.31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258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Calibration Difference: 0.08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5877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metric cards, sorted by severity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234440"/>
            <a:ext cx="4160520" cy="1755648"/>
          </a:xfrm>
          <a:prstGeom prst="rect">
            <a:avLst/>
          </a:prstGeom>
          <a:solidFill>
            <a:srgbClr val="F8F9FA"/>
          </a:solidFill>
          <a:ln w="762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234440"/>
            <a:ext cx="4160520" cy="2743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93208" y="1325880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9512" y="1280160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— Priya's Story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3752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"31% → 74% shortlisted probability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73752" y="19293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gender changed to Male."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2258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DiCE-ML + Gemini 1.5 Pro.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25877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statistics into human stories.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136392"/>
            <a:ext cx="4160520" cy="1755648"/>
          </a:xfrm>
          <a:prstGeom prst="rect">
            <a:avLst/>
          </a:prstGeom>
          <a:solidFill>
            <a:srgbClr val="F8F9FA"/>
          </a:solidFill>
          <a:ln w="762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136392"/>
            <a:ext cx="4160520" cy="274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31821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Intersectional Heatmap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" y="35021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&gt; 45 from rural postcodes: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" y="3831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 higher rejection rate detected.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" y="4160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to single-attribute tools.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44897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FairLens catches this.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136392"/>
            <a:ext cx="4160520" cy="1755648"/>
          </a:xfrm>
          <a:prstGeom prst="rect">
            <a:avLst/>
          </a:prstGeom>
          <a:solidFill>
            <a:srgbClr val="F8F9FA"/>
          </a:solidFill>
          <a:ln w="7620">
            <a:solidFill>
              <a:srgbClr val="FBBC0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136392"/>
            <a:ext cx="4160520" cy="274320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46904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93208" y="3227832"/>
            <a:ext cx="73152" cy="73152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9512" y="31821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Debiasing Simulator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73752" y="35021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 at 65% fairness constraint: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73752" y="3831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score: 31% → 89%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73752" y="4160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loss: only −6%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73752" y="44897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 Download corrected model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Vercel + Google Cloud Run · Add your actual screenshots here to replace mock content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Development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FairLens is compliance infrastructure for the AI era — built to scale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34440"/>
            <a:ext cx="2697480" cy="2907792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2697480" cy="310896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80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Q3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691640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Multi-language: Tamil, Bengali, Marathi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441448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mode for CI/CD integration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1912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auto-audits (30-day alerts)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234440"/>
            <a:ext cx="2697480" cy="2907792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234440"/>
            <a:ext cx="2697480" cy="31089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280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Q4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1691640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Sector-specific templates (banking, healthcare, hiring)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64408" y="2441448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Advanced deep causal analysis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64408" y="31912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+ SEBI compliance report builder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234440"/>
            <a:ext cx="2697480" cy="2907792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234440"/>
            <a:ext cx="2697480" cy="31089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2801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2027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1691640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auditor marketplace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44768" y="2441448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SSO + governance audit trail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44768" y="3191256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model drift &amp; fairness monitoring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279392"/>
            <a:ext cx="8595360" cy="694944"/>
          </a:xfrm>
          <a:prstGeom prst="rect">
            <a:avLst/>
          </a:prstGeom>
          <a:solidFill>
            <a:srgbClr val="E8F0FE"/>
          </a:solidFill>
          <a:ln w="7620">
            <a:solidFill>
              <a:srgbClr val="4285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279392"/>
            <a:ext cx="137160" cy="694944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15968"/>
            <a:ext cx="8275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 </a:t>
            </a:r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FairLens becomes the compliance layer every organisation deploying AI in India installs before going live — the same way SSL became standard for every website. Powered by Google Cloud. Accessible to all.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Links &amp; Deliverables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judges need — one click away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34440"/>
            <a:ext cx="85953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164592" cy="777240"/>
          </a:xfrm>
          <a:prstGeom prst="rect">
            <a:avLst/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624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33856" y="132588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3856" y="16550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u="sng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github.com/ModelMisfits/fairlens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0" y="143560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repo · MIT License · Full source code + README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85953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21408"/>
            <a:ext cx="164592" cy="77724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249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33856" y="221284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(3 Minutes)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3856" y="2542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u="sng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youtu.be/[your-demo-link]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94960" y="232257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counterfactual · Intersectional heatmap · Live debiasing simulator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008376"/>
            <a:ext cx="85953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08376"/>
            <a:ext cx="164592" cy="7772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136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33856" y="309981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Link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34290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u="sng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fairlens.vercel.app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94960" y="320954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Next.js app · Try with pre-loaded sample datasets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895344"/>
            <a:ext cx="85953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DADC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895344"/>
            <a:ext cx="164592" cy="7772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023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133856" y="39867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3856" y="43159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u="sng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fairlens.vercel.app/demo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94960" y="40965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Pre-loaded hiring dataset · Full 60-second audit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80060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Model Misfits  ·  Leader: Viraj Jadhao  ·  solutionchallengesupport@hack2skill.com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FairLens Wins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numbers that tell the whole story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8321040" cy="16459"/>
          </a:xfrm>
          <a:prstGeom prst="rect">
            <a:avLst/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02412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02412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" y="102412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FairLens is not just a tool —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compliance infrastructure for the AI era.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77240" y="2523744"/>
            <a:ext cx="2286000" cy="1463040"/>
          </a:xfrm>
          <a:prstGeom prst="rect">
            <a:avLst/>
          </a:prstGeom>
          <a:solidFill>
            <a:srgbClr val="F8F9FA"/>
          </a:solidFill>
          <a:ln w="762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523744"/>
            <a:ext cx="2286000" cy="201168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777240" y="34930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Metrics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Automatically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523744"/>
            <a:ext cx="2286000" cy="1463040"/>
          </a:xfrm>
          <a:prstGeom prst="rect">
            <a:avLst/>
          </a:prstGeom>
          <a:solidFill>
            <a:srgbClr val="F8F9FA"/>
          </a:solidFill>
          <a:ln w="7620">
            <a:solidFill>
              <a:srgbClr val="34A8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2523744"/>
            <a:ext cx="2286000" cy="20116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3383280" y="34930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to Full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523744"/>
            <a:ext cx="2286000" cy="1463040"/>
          </a:xfrm>
          <a:prstGeom prst="rect">
            <a:avLst/>
          </a:prstGeom>
          <a:solidFill>
            <a:srgbClr val="F8F9FA"/>
          </a:solidFill>
          <a:ln w="7620">
            <a:solidFill>
              <a:srgbClr val="FBBC0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2523744"/>
            <a:ext cx="2286000" cy="201168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5989320" y="34930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by User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77640" y="4178808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78808" y="4178808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9976" y="4178808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4178808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268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Google Cloud · Powered by Gemini · Made for India · Built by Model Misfits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FairLens is not just a tool —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compliance infrastructure for the AI era.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395728"/>
            <a:ext cx="2103120" cy="1463040"/>
          </a:xfrm>
          <a:prstGeom prst="rect">
            <a:avLst/>
          </a:prstGeom>
          <a:solidFill>
            <a:srgbClr val="2D2D2D"/>
          </a:solidFill>
          <a:ln w="15240">
            <a:solidFill>
              <a:srgbClr val="428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688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Automatically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74720" y="2395728"/>
            <a:ext cx="2103120" cy="1463040"/>
          </a:xfrm>
          <a:prstGeom prst="rect">
            <a:avLst/>
          </a:prstGeom>
          <a:solidFill>
            <a:srgbClr val="2D2D2D"/>
          </a:solidFill>
          <a:ln w="15240">
            <a:solidFill>
              <a:srgbClr val="3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4688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47472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to Full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Report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2395728"/>
            <a:ext cx="2103120" cy="1463040"/>
          </a:xfrm>
          <a:prstGeom prst="rect">
            <a:avLst/>
          </a:prstGeom>
          <a:solidFill>
            <a:srgbClr val="2D2D2D"/>
          </a:solidFill>
          <a:ln w="15240">
            <a:solidFill>
              <a:srgbClr val="FBBC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46888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BC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03504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by User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0" y="4023360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4023360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9936" y="4023360"/>
            <a:ext cx="128016" cy="128016"/>
          </a:xfrm>
          <a:prstGeom prst="ellipse">
            <a:avLst/>
          </a:prstGeom>
          <a:solidFill>
            <a:srgbClr val="FBBC05"/>
          </a:solidFill>
          <a:ln w="12700">
            <a:solidFill>
              <a:srgbClr val="FBBC0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1104" y="4023360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Google Cloud · Powered by Gemini · Made for India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Model Misfits · Google Solution Challenge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2026-04-21T10:37:16Z</dcterms:created>
  <dcterms:modified xsi:type="dcterms:W3CDTF">2026-04-21T10:37:16Z</dcterms:modified>
</cp:coreProperties>
</file>